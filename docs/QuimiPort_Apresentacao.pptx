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62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B3D5C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98480" y="-640080"/>
            <a:ext cx="2926080" cy="2926080"/>
          </a:xfrm>
          <a:prstGeom prst="ellipse">
            <a:avLst/>
          </a:prstGeom>
          <a:solidFill>
            <a:srgbClr val="E8871E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QuimiPort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para gestão de cargas químicas em ambiente portuário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técnica e arquitetural  ·  Domain-Driven Design, TypeScript e Qualidade de Software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Full Stack Development  ·  FIAP </a:t>
            </a:r>
            <a:r>
              <a:rPr lang="pt-BR" sz="1200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10FSDT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6375BB2-1D2A-2CC6-CEA9-CC40E9A3C564}"/>
              </a:ext>
            </a:extLst>
          </p:cNvPr>
          <p:cNvSpPr/>
          <p:nvPr/>
        </p:nvSpPr>
        <p:spPr>
          <a:xfrm>
            <a:off x="731520" y="4572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Adriel Ribeiro · Bruno Dias · Nasser Tarraf · </a:t>
            </a:r>
            <a:r>
              <a:rPr lang="en-US" sz="1300" i="1" dirty="0" err="1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Glauton</a:t>
            </a:r>
            <a:r>
              <a:rPr lang="pt-BR" sz="1300" i="1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Profº Israel Meinert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Introdução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Entendimento do Domínio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302666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Linguagem Ubíqua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Modelagem de Domínio com DDD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27024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Regras de Negócio e Invariantes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Casos de Uso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513832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551383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Fluxo de Status da Carga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629400" y="178308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Arquitetura Proposta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0" y="2404872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629400" y="240487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Organização do Projeto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0" y="3026664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29400" y="3026664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Planejamento de Qualidade de Software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0" y="3648456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629400" y="3648456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JavaScript Avançado e TypeScript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0" y="4270248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29400" y="4270248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Decisões Arquiteturais e Evolução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00800" y="4892040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629400" y="4892040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Premissas e Pontos em Aberto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00800" y="5513832"/>
            <a:ext cx="5394960" cy="493776"/>
          </a:xfrm>
          <a:prstGeom prst="roundRect">
            <a:avLst>
              <a:gd name="adj" fmla="val 11111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29400" y="5513832"/>
            <a:ext cx="5029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Referências Documentais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 QuimiPort resolve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QuimiPort é uma proposta de sistema para gestão de cargas químicas em ambiente portuário. </a:t>
            </a: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tratado é o controle descentralizado e manual de informações relevantes para a segurança e a operação logística</a:t>
            </a:r>
            <a:r>
              <a:rPr lang="en-US" sz="15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produto químico, classificação de risco, documentação, responsável técnico, inspeção, movimentação e histórico.
Uma carga química não é apenas um registro de transporte — ela possui um ciclo de vida sujeito a restrições de segurança. Uma carga sem documentação validada não pode ser liberada; uma carga bloqueada não pode iniciar movimentação; uma carga finalizada ou cancelada não pode sofrer novas movimentações. O sistema deve impedir esses estados inválidos antes que sejam persistidos.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35240" y="169164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9095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09560" y="237744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uma solução full stack evolutiva para registrar, controlar e acompanhar cargas químicas portuárias, preservando rastreabilidade, regras de segurança e responsabilidade por cada ação relevante.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 e escopo da Fase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produtos químicos com classe de risco válida e controlar sua disponibilidade para novas cargas.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960" y="26243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cargas somente com os dados mínimos necessários para sua identificação operacional.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transições de status por uma máquina de estados explícita.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39959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histórico cronológico de cada movimentação da carga.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2960" y="46817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ações conforme o perfil e a etapa operacional da carga.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486400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 estratégia de testes que preserve as regras críticas em futuras implementações.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600200"/>
            <a:ext cx="4617720" cy="4572000"/>
          </a:xfrm>
          <a:prstGeom prst="roundRect">
            <a:avLst>
              <a:gd name="adj" fmla="val 1600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609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DESTA FASE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224028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inclui o núcleo de domínio do QuimiPort: produtos químicos, cargas químicas, movimentações, responsáveis, documentação, inspeção, permissões e auditoria.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4114800"/>
            <a:ext cx="40690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589520" y="425196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Persistência, autenticação, interface web e integrações são fronteiras arquiteturais planejadas — sem implementação obrigatória nesta fase.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DOMÍNIO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de negócio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operações portuárias, o transporte e a armazenagem de substâncias químicas exigem controle de risco, responsabilidade técnica e documentação. Registros manuais ou dispersos dificultam a confirmação de que uma carga está apta a seguir para a próxima etapa. Isso cria risco de movimentação indevida, perda de rastreabilidade e falhas de auditoria.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623560" cy="4297680"/>
          </a:xfrm>
          <a:prstGeom prst="roundRect">
            <a:avLst>
              <a:gd name="adj" fmla="val 1702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550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QUIMIPORT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QuimiPort centraliza esse processo em um fluxo controlado. O sistema registra o produto associado, a classificação de risco herdada, os documentos exigidos, os participantes responsáveis e as decisões de inspeção.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liberação operacional resulta de condições verificáveis, não de alteração manual isolada de status.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DOMÍNIO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Usuários e responsabilidades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6177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 no domínio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do sistema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 produtos, possui acesso a todas as etapas da carga e pode cancelar cargas.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operacional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 e conduz todas as etapas da carga; pode cancelar cargas.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portuário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 durante as etapas EM_MOVIMENTACAO e LIBERADA.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técnico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 em EM_PREPARACAO e BLOQUEADA, preparando ou corrigindo a carga.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documentação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Anexa e organiza documentos obrigatórios durante EM_PREPARACAO.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qualidade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 a inspeção durante EM_INSPECAO.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Inspetor responsável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 designada para validar documentação e informações durante a inspeção.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DOMÍNIO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Informações controladas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6177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Informações principais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químico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Nome, descrição, status e classe de risco ONU.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a substância e seu risco aplicável.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química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Produto, quantidade, unidade, destino, descrição, previsões, status e auditoria.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Representar a unidade operacional acompanhada no porto.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Ordem, status anterior, status atual, observações, data/hora e usuário.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Formar o histórico imutável de mudanças de status.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da carga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Tipo, anexo, situação de validação e responsável.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Demonstrar atendimento aos requisitos documentais.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Resultado, inspetor, data/hora e observações.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 decisão que libera ou bloqueia a carga.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 técnico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do profissional designado.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Atribuir responsabilidade pela preparação técnica.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6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DOMÍNIO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operacional e decisões do sistema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OPERACIONAL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DC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(produto ativo)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94360" y="28437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(técnico + docs)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DC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4360" y="42153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4215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1148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ou Bloqueio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DC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94360" y="49011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436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8006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48640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94360" y="5586984"/>
            <a:ext cx="365760" cy="36576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94360" y="5586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48640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 ou Cancelamento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PELO SISTEMA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211226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75120" y="20025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produto sem nome, duplicado ou com classe de risco inválida.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0" y="261061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675120" y="25008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carga sem produto, quantidade positiva, unidade ou destino.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310896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75120" y="29992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nova carga associada a produto inativo.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0" y="3607308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675120" y="34975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alteração de produto após sair de CADASTRADA.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0" y="410565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675120" y="3995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 a transição de status pertence ao fluxo permitido.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0" y="460400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675120" y="44942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técnico, documentação ou justificativa quando a etapa requer.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0" y="510235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675120" y="49926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Negar ações a perfis sem autorização.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0" y="560070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675120" y="54909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movimentações após FINALIZADA ou CANCELADA.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UBÍQUA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Ubíqua (1/2)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usados de forma consistente entre especialistas do negócio, documentação, código, testes e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químico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05740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Substância catalogada, identificada por nome único, classe ONU e status de atividade.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8376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68376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química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68376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transporte ou operação logística vinculada a um produto químico e submetida a um ciclo de vida.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310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 risco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310128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ONU do produto químico, de 1 a 9, herdada pela carga associada.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3649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393649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cadastrada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93649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 de uma carga recém-criada.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5628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5800" y="45628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562856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designação técnica e organização documental anterior à inspeção.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1892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51892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51892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validação das informações da carga, produto e documentação.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81558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" y="581558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581558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que a carga está apta para transporte.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UBÍQUA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Ubíqua (2/2)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usados de forma consistente entre especialistas do negócio, documentação, código, testes e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05740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espera por correção após inconsistência identificada.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8376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68376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68376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que registra uma alteração de status da carga.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33101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310128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sequencial cronológico de uma movimentação dentro de uma carga.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3649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393649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93649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ordenado de movimentações de uma carga.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5628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5800" y="45628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obrigatório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4562856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requerido para que a carga avance no fluxo e possa ser liberada.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1892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" y="51892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técnico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51892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associado à preparação técnica da carga.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81558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" y="581558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Inspetor / Cancelamento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5815584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que valida a carga na inspeção; encerramento excepcional antes da finalização, sempre com motivo.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DOMÍNIO COM DDD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delimitado e agregado principal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DELIMITADO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Cargas Químicas Portuárias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Subdomínio central: controle de ciclo de vida da carga química.
Subdomínios de apoio: catálogo de produtos, identidade de usuários e gestão de documentos.
</a:t>
            </a:r>
            <a:r>
              <a:rPr lang="en-US" sz="1250" i="1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referencia um único produto — decisão de escopo, não limitação técnica (ver seção 4.6).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PRINCIPAL: CARGA QUÍMICA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340864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29400" y="2231136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carga possui produto, quantidade positiva, unidade e destino.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2761488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29400" y="2651760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carga nova só pode referenciar produto ativo.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182112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072384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risco corresponde à classe do produto associado.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602736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29400" y="3493008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associado só muda enquanto o status é CADASTRADA.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023360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29400" y="3913632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transição válida gera exatamente uma movimentação ordenada.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443984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334256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terminais impedem novas movimentações.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4864608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629400" y="4754880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depende de documentação validada.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5285232"/>
            <a:ext cx="137160" cy="1371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629400" y="5175504"/>
            <a:ext cx="48463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é opcional até EM_PREPARACAO; a partir daí, é obrigatório.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DOMÍNIO COM DDD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4206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ProdutoQuimico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Manter catálogo e disponibilidade de produtos para novas cargas.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PQ-01 a PQ-05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CargaQuimica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Proteger o fluxo e as regras de segurança da carga.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CQ-01 a CQ-08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Movimentacao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mudança de status de forma cronológica.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MV-01 a MV-11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DocumentoCarga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Representar documento anexado e seu estado de validação.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MV-05, MV-07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Inspecao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decisão de inspeção sobre a carga.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MV-06, MV-07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Representar o agente que executa ação e possui perfil.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PM-01 a PM-07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Relações: ProdutoQuimico tem ciclo de vida próprio (associação por identidade). Movimentacao, DocumentoCarga e Inspecao pertencem ao agregado CargaQuimica.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DOMÍNIO COM DDD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Objetos de valor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de 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encapsulada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ClasseRiscoONU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entre 1 e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 classes inexistentes.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decimal positivo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Rejeita zero e valores negativos.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UnidadeMedida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ou descrição padronizada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Garante que a quantidade seja interpretável.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textual ou estruturada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Impede carga sem destino.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StatusCarga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enumerado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Restringe estados a valores do fluxo.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criadoEm, criadoPor, alteradoEm, alteradoPor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 autoria e tempo das alterações.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não vazio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Exigido para bloqueio e cancelamento.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DOMÍNIO COM DDD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domínio</a:t>
            </a:r>
            <a:endParaRPr lang="en-US" sz="3000" dirty="0"/>
          </a:p>
        </p:txBody>
      </p:sp>
      <p:pic>
        <p:nvPicPr>
          <p:cNvPr id="6" name="Image 0" descr="/home/claude/pptx_build/diagrams/01-domin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1600200"/>
            <a:ext cx="1014984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DOMÍNIO COM DDD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contexto</a:t>
            </a:r>
            <a:endParaRPr lang="en-US" sz="3000" dirty="0"/>
          </a:p>
        </p:txBody>
      </p:sp>
      <p:pic>
        <p:nvPicPr>
          <p:cNvPr id="6" name="Image 0" descr="/home/claude/pptx_build/diagrams/02-mapa-contex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554480"/>
            <a:ext cx="1115568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QuimiPort opera hoje como um único contexto delimitado. O mapa antecipa os padrões de integração (Context Mapping) para quando as integrações externas do roadmap forem implementadas.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INVARIANTES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negócio e invariantes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DCEE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químicos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6499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Unicidade de nome, campos obrigatórios, classe ONU válida, exclusão sem vínculo, inativação não retroativa.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173736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547872" y="19659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B5650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547872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químicas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47872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7872" y="336499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obrigatórios, quantidade positiva, produto ativo, classe herdada, auditoria de criação e alteração.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73736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9944" y="19659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9944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9944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 e status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9944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regras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9944" y="336499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cronológico, máquina de estados, motivos obrigatórios, estados terminais protegidos.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43416" y="173736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3E8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272016" y="19659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272016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2016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272016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regras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72016" y="3364992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restritas por perfil e por etapa do fluxo operacional da carga.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— visão geral</a:t>
            </a:r>
            <a:endParaRPr lang="en-US" sz="3000" dirty="0"/>
          </a:p>
        </p:txBody>
      </p:sp>
      <p:pic>
        <p:nvPicPr>
          <p:cNvPr id="6" name="Image 0" descr="/home/claude/pptx_build/diagrams/03-casos-de-us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1508760"/>
            <a:ext cx="603504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— exemplos detalhados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1417320"/>
          </a:xfrm>
          <a:prstGeom prst="roundRect">
            <a:avLst>
              <a:gd name="adj" fmla="val 45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58368" y="18928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" y="18928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828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carga química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22219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Produto, quantidade, unidade e destino obrigatórios → carga nasce em CADASTRADA, herda classe de risco e cria movimentação inicial.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1892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APLICADAS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92440" y="216712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CQ-01, CQ-02, CQ-03, MV-01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1247120" cy="1417320"/>
          </a:xfrm>
          <a:prstGeom prst="roundRect">
            <a:avLst>
              <a:gd name="adj" fmla="val 45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58368" y="34930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8368" y="34930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3429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Inspecionar carga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38221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entre liberação ou bloqueio conforme documentação e dados verificados; bloqueio exige motivo registrado.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APLICADAS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376732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MV-06, MV-07, PM-07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1417320"/>
          </a:xfrm>
          <a:prstGeom prst="roundRect">
            <a:avLst>
              <a:gd name="adj" fmla="val 45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58368" y="509320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8368" y="5093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5029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carga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542239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excepcional antes de FINALIZADA, sempre com motivo; ator precisa de privilégio de cancelamento.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5093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APLICADAS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536752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MV-09, MV-10, PM-03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casos de uso documentados na íntegra na seção 6, cada um com objetivo, atores, entrada, saída, pré-condições, fluxo, exceções e regras de negócio aplicadas.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STATUS DA CARGA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status da carga</a:t>
            </a:r>
            <a:endParaRPr lang="en-US" sz="3000" dirty="0"/>
          </a:p>
        </p:txBody>
      </p:sp>
      <p:pic>
        <p:nvPicPr>
          <p:cNvPr id="6" name="Image 0" descr="/home/claude/pptx_build/diagrams/04-fluxo-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3120" y="1463040"/>
            <a:ext cx="795528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 arquitetural e camadas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modular em TypeScript, organizado por camadas e orientado por portas e adaptadores — reduz complexidade operacional inicial e preserva fronteiras de domínio para extração futura de serviços.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393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validação sintática, serialização, autenticação de entrada.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9560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17550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 regras internas.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9272" y="297180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502152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2152" y="36393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385876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autorização, transações, coordenação de repositórios.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02152" y="49560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02152" y="517550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HTTP e esquema físico do banco.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297180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64224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4224" y="36393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385876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objetos de valor, agregados, regras e erros de domínio.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49560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517550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ORM, HTTP, banco de dados ou fornecedor externo.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43416" y="297180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226296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6296" y="363931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26296" y="3858768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concretos, ORM, banco, armazenamento, provedores externos.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26296" y="495604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6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26296" y="5175504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decisórias duplicadas.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arquitetura e fluxo de solicitação</a:t>
            </a:r>
            <a:endParaRPr lang="en-US" sz="3000" dirty="0"/>
          </a:p>
        </p:txBody>
      </p:sp>
      <p:pic>
        <p:nvPicPr>
          <p:cNvPr id="6" name="Image 0" descr="/home/claude/pptx_build/diagrams/05-arquitetur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70408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554480"/>
            <a:ext cx="3886200" cy="4846320"/>
          </a:xfrm>
          <a:prstGeom prst="roundRect">
            <a:avLst>
              <a:gd name="adj" fmla="val 1882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4672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SOLICITAÇÃO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21945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046720" y="2194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85632" y="21396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entrada recebe e valida o formato.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28803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04672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85632" y="28254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identifica o usuário e verifica permissão.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46720" y="35661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046720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85632" y="35112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carrega agregados via portas de repositório.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42519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046720" y="4251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85632" y="41970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executa a regra e aceita ou rejeita a mudança.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49377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046720" y="4937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85632" y="48828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persiste agregado e eventos de forma transacional.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46720" y="5623560"/>
            <a:ext cx="329184" cy="329184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8046720" y="5623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85632" y="556869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converte o resultado em resposta ao consumidor.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DO PROJETO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do projeto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035040" cy="4709160"/>
          </a:xfrm>
          <a:prstGeom prst="roundRect">
            <a:avLst>
              <a:gd name="adj" fmla="val 1553"/>
            </a:avLst>
          </a:prstGeom>
          <a:solidFill>
            <a:srgbClr val="081F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5778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quimiport/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documentacao-tecnica.md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decisoes-arquiteturais.md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diagramas/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modules/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produtos-quimicos/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cargas-quimicas/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movimentacoes/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documentos/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usuarios/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shared/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http/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composition/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unit/  ├── integration/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application/  ├── acceptance/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fixtures/  builders/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regras-de-negocio/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20840" y="1645920"/>
            <a:ext cx="4983480" cy="4709160"/>
          </a:xfrm>
          <a:prstGeom prst="roundRect">
            <a:avLst>
              <a:gd name="adj" fmla="val 155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99516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EM 3 CAMADAS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95160" y="237744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223760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2944368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223760" y="29443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95160" y="3511296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223760" y="351129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4251960"/>
            <a:ext cx="44805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de produtos controla catálogo e disponibilidade; o módulo de cargas concentra o agregado principal. Movimentações, documentos e inspeções iniciam como partes internas do módulo de cargas e podem se tornar módulos autônomos caso ganhem regras e ciclos de vida independentes.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QUALIDADE DE SOFTWARE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testes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é medida pela capacidade de impedir estados operacionais inválidos e manter evidências auditáveis de cada decisão.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583680" cy="868680"/>
          </a:xfrm>
          <a:prstGeom prst="roundRect">
            <a:avLst>
              <a:gd name="adj" fmla="val 63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40280" y="231343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invariantes e regras determinísticas em entidades, objetos de valor, políticas e máquina de estados.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27832"/>
            <a:ext cx="6583680" cy="868680"/>
          </a:xfrm>
          <a:prstGeom prst="roundRect">
            <a:avLst>
              <a:gd name="adj" fmla="val 63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3300984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40280" y="3300984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orquestração, autorização, carregamento e persistência de cada caso de uso.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15384"/>
            <a:ext cx="6583680" cy="868680"/>
          </a:xfrm>
          <a:prstGeom prst="roundRect">
            <a:avLst>
              <a:gd name="adj" fmla="val 63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4288536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40280" y="4288536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mapeamento, transação, unicidade e contratos de banco, API e armazenamento.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202936"/>
            <a:ext cx="6583680" cy="868680"/>
          </a:xfrm>
          <a:prstGeom prst="roundRect">
            <a:avLst>
              <a:gd name="adj" fmla="val 6316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527608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40280" y="527608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comportamento observável por ator em fluxos de negócio completos.</a:t>
            </a:r>
            <a:endParaRPr lang="en-US" sz="1100" dirty="0"/>
          </a:p>
        </p:txBody>
      </p:sp>
      <p:pic>
        <p:nvPicPr>
          <p:cNvPr id="19" name="Image 0" descr="/home/claude/pptx_build/diagrams/07-piramide-tes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52360" y="1600200"/>
            <a:ext cx="4251960" cy="4754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QUALIDADE DE SOFTWARE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 e critérios de entrada e saída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RASTREABILIDADE (RESUMO)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PQ-01 a PQ-05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unicidade, exclusão e disponibilidade de produtos.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CQ-01 a CQ-06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27889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da carga, quantidade e alteração de produto associado.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MV-01 a MV-10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356616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estados, histórico e motivos obrigatórios.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5852160" cy="658368"/>
          </a:xfrm>
          <a:prstGeom prst="roundRect">
            <a:avLst>
              <a:gd name="adj" fmla="val 6944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PM-01 a PM-07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434340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autorização por perfil e etapa.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cenários de teste prioritários (CT-01 a CT-27) cobrem cada regra, do cadastro de produto ao fluxo completo de cancelamento.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1627632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03720" y="1828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PARA ENTREGA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03720" y="219456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críticas aprovadas em testes unitários; cenários CT-06 a CT-24 cobertos; nenhuma falha conhecida permite burlar status, documentação, autorização ou histórico.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ENTREGA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03720" y="397764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que cria carga inválida, libera sem documentos validados, movimenta carga bloqueada/terminal, perde auditoria ou permite ação sem perfil autorizado.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AVANÇADO E TYPESCRIPT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Tipagem estrita e máquina de estados pura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081F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StatusCarga =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"CADASTRADA" | "EM_PREPARACAO"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"EM_INSPECAO" | "BLOQUEADA"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"LIBERADA" | "EM_MOVIMENTACAO"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"FINALIZADA" | "CANCELADA";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ClasseRiscoONU =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1|2|3|4|5|6|7|8|9;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RepositorioCarga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buscarPorId(id: string):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Promise&lt;CargaQuimica | null&gt;;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salvar(carga: CargaQuimica):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Promise&lt;void&gt;;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081F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transicoes: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Record&lt;StatusCarga,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readonly StatusCarga[]&gt; =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CADASTRADA: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["EM_PREPARACAO","CANCELADA"],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EM_PREPARACAO: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["EM_INSPECAO","CANCELADA"],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EM_INSPECAO: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["LIBERADA","BLOQUEADA",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"CANCELADA"],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FINALIZADA: [],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CANCELADA: [],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podeTransicionar(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de: StatusCarga, para: StatusCarga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boolean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transicoes[de].includes(para);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E EVOLUÇÃO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arquiteturais e padrões de integração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com múltiplos estados e restrições se beneficia de contratos explícitos.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69164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02152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modular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02152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simples, coesa e evolutiva para a primeira fase.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64224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 na Carga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64224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CargaQuimica torna-se o agregado central, mantido coeso.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43416" y="1691640"/>
            <a:ext cx="2697480" cy="1874520"/>
          </a:xfrm>
          <a:prstGeom prst="roundRect">
            <a:avLst>
              <a:gd name="adj" fmla="val 3415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226296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e adaptadores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26296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não dependem de banco, HTTP ou fornecedor.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INTEGRAÇÃO COM CONTEXTOS EXTERNOS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9436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externa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Conformista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19272" y="41605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456432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Armaz. de documentos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56432" y="4663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Conformista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81344" y="41605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18504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Órgãos reguladores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18504" y="4663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Anti-Corruption Layer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043416" y="416052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FE8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180576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0576" y="4663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Open-Host Service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e Kernel Compartilhado não se aplicam nesta fase: pressupõem times internos distintos, cenário inexistente com um único contexto e um único time.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E EVOLUÇÃO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evolução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212848" cy="502920"/>
          </a:xfrm>
          <a:prstGeom prst="roundRect">
            <a:avLst>
              <a:gd name="adj" fmla="val 50909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212848" cy="3246120"/>
          </a:xfrm>
          <a:prstGeom prst="roundRect">
            <a:avLst>
              <a:gd name="adj" fmla="val 289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19385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objetos de valor, máquina de estados, casos de uso e testes unitários.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38628" y="2103120"/>
            <a:ext cx="2212848" cy="502920"/>
          </a:xfrm>
          <a:prstGeom prst="roundRect">
            <a:avLst>
              <a:gd name="adj" fmla="val 5090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38628" y="21031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38628" y="2788920"/>
            <a:ext cx="2212848" cy="3246120"/>
          </a:xfrm>
          <a:prstGeom prst="roundRect">
            <a:avLst>
              <a:gd name="adj" fmla="val 289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875788" y="292608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75788" y="3566160"/>
            <a:ext cx="19385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relacional, migrations, repositórios, API REST, autenticação e testes de integração.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0056" y="2103120"/>
            <a:ext cx="2212848" cy="502920"/>
          </a:xfrm>
          <a:prstGeom prst="roundRect">
            <a:avLst>
              <a:gd name="adj" fmla="val 5090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0056" y="21031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0056" y="2788920"/>
            <a:ext cx="2212848" cy="3246120"/>
          </a:xfrm>
          <a:prstGeom prst="roundRect">
            <a:avLst>
              <a:gd name="adj" fmla="val 289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157216" y="292608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3566160"/>
            <a:ext cx="19385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produtos, cargas, documentos, inspeções e histórico por perfil.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01484" y="2103120"/>
            <a:ext cx="2212848" cy="502920"/>
          </a:xfrm>
          <a:prstGeom prst="roundRect">
            <a:avLst>
              <a:gd name="adj" fmla="val 5090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01484" y="21031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01484" y="2788920"/>
            <a:ext cx="2212848" cy="3246120"/>
          </a:xfrm>
          <a:prstGeom prst="roundRect">
            <a:avLst>
              <a:gd name="adj" fmla="val 289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438644" y="292608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ampliada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38644" y="3566160"/>
            <a:ext cx="19385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Notificações, relatórios, armazenamento de anexos, trilha de auditoria e indicadores.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82912" y="2103120"/>
            <a:ext cx="2212848" cy="502920"/>
          </a:xfrm>
          <a:prstGeom prst="roundRect">
            <a:avLst>
              <a:gd name="adj" fmla="val 50909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582912" y="21031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82912" y="2788920"/>
            <a:ext cx="2212848" cy="3246120"/>
          </a:xfrm>
          <a:prstGeom prst="roundRect">
            <a:avLst>
              <a:gd name="adj" fmla="val 2893"/>
            </a:avLst>
          </a:prstGeom>
          <a:solidFill>
            <a:srgbClr val="EFF5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720072" y="292608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 integração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20072" y="3566160"/>
            <a:ext cx="19385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módulos, mensageria e integrações externas conforme necessidade.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E PONTOS EM ABERTO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 pontos em aberto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572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 adotada para planejamento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obrigatórios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política configurável para documentos exigidos por carga/produto.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Designação de técnico/inspetor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Atribuições ocorrem por casos de uso específicos, separados da edição comum.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 inativado após associação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carga preserva a classe de risco herdada no momento da associação.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Cancelamento em movimentação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transição de EM_MOVIMENTACAO para CANCELADA é válida.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 de produto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Exclusão física somente quando não há histórico de uso.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de armazenamento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Permanecem fora do núcleo desta fase.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 ·  Tech Challenge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B3D5C">
              <a:alpha val="7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4389120" cy="438912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QuimiPort — Gestão de Cargas Químicas Portuárias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1 · Pós Tech Full Stack Development · FIAP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3145</Words>
  <Application>Microsoft Office PowerPoint</Application>
  <PresentationFormat>Widescreen</PresentationFormat>
  <Paragraphs>550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QuimiPort - Tech Challenge Fase 1</dc:title>
  <dc:subject>PptxGenJS Presentation</dc:subject>
  <dc:creator>QuimiPort</dc:creator>
  <cp:lastModifiedBy>adriel ribeiro</cp:lastModifiedBy>
  <cp:revision>2</cp:revision>
  <dcterms:created xsi:type="dcterms:W3CDTF">2026-08-28T01:48:41Z</dcterms:created>
  <dcterms:modified xsi:type="dcterms:W3CDTF">2026-08-29T20:20:49Z</dcterms:modified>
</cp:coreProperties>
</file>